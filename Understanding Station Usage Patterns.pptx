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5143500" cx="9144000"/>
  <p:notesSz cx="6858000" cy="9144000"/>
  <p:embeddedFontLst>
    <p:embeddedFont>
      <p:font typeface="Raleway"/>
      <p:regular r:id="rId26"/>
      <p:bold r:id="rId27"/>
      <p:italic r:id="rId28"/>
      <p:boldItalic r:id="rId29"/>
    </p:embeddedFont>
    <p:embeddedFont>
      <p:font typeface="Lat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AD0831B-79F1-417B-AC4F-1AECCB16B545}">
  <a:tblStyle styleId="{EAD0831B-79F1-417B-AC4F-1AECCB16B54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aleway-regular.fntdata"/><Relationship Id="rId25" Type="http://schemas.openxmlformats.org/officeDocument/2006/relationships/slide" Target="slides/slide19.xml"/><Relationship Id="rId28" Type="http://schemas.openxmlformats.org/officeDocument/2006/relationships/font" Target="fonts/Raleway-italic.fntdata"/><Relationship Id="rId27" Type="http://schemas.openxmlformats.org/officeDocument/2006/relationships/font" Target="fonts/Raleway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aleway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ato-bold.fntdata"/><Relationship Id="rId30" Type="http://schemas.openxmlformats.org/officeDocument/2006/relationships/font" Target="fonts/Lato-regular.fntdata"/><Relationship Id="rId11" Type="http://schemas.openxmlformats.org/officeDocument/2006/relationships/slide" Target="slides/slide5.xml"/><Relationship Id="rId33" Type="http://schemas.openxmlformats.org/officeDocument/2006/relationships/font" Target="fonts/Lato-boldItalic.fntdata"/><Relationship Id="rId10" Type="http://schemas.openxmlformats.org/officeDocument/2006/relationships/slide" Target="slides/slide4.xml"/><Relationship Id="rId32" Type="http://schemas.openxmlformats.org/officeDocument/2006/relationships/font" Target="fonts/Lato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f73439297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f73439297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f73439297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f73439297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f73439297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f73439297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f73439297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af73439297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f73439297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f73439297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f73439297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af73439297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f73439297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af73439297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f73439297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af73439297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f73439297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af73439297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f73439297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af73439297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f73439297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af73439297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f73439297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af73439297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f73439297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af73439297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f73439297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af73439297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f73439297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af73439297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af73439297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af73439297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af73439297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af73439297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af73439297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af73439297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Station Usage Patterns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Prepared for Amey Consulting</a:t>
            </a:r>
            <a:endParaRPr/>
          </a:p>
        </p:txBody>
      </p:sp>
      <p:sp>
        <p:nvSpPr>
          <p:cNvPr id="88" name="Google Shape;88;p13"/>
          <p:cNvSpPr txBox="1"/>
          <p:nvPr>
            <p:ph idx="1" type="subTitle"/>
          </p:nvPr>
        </p:nvSpPr>
        <p:spPr>
          <a:xfrm>
            <a:off x="727952" y="389985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Faheem Ul-Haque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Objectives</a:t>
            </a:r>
            <a:endParaRPr/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727650" y="23489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Understanding station behaviour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Identify natural station groups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Forecast 2026 demand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Detect and suggest reasons for unusual usage patterns</a:t>
            </a:r>
            <a:endParaRPr sz="1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Data</a:t>
            </a:r>
            <a:endParaRPr/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729450" y="23724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Daily entry and exit tap counts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437 stations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From 01/01/2024 to 30/11/2025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Stations Differ</a:t>
            </a:r>
            <a:endParaRPr/>
          </a:p>
        </p:txBody>
      </p:sp>
      <p:sp>
        <p:nvSpPr>
          <p:cNvPr id="106" name="Google Shape;106;p16"/>
          <p:cNvSpPr txBox="1"/>
          <p:nvPr/>
        </p:nvSpPr>
        <p:spPr>
          <a:xfrm>
            <a:off x="96300" y="86900"/>
            <a:ext cx="87957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Objective : Understanding Station Behaviour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07" name="Google Shape;107;p16"/>
          <p:cNvGraphicFramePr/>
          <p:nvPr/>
        </p:nvGraphicFramePr>
        <p:xfrm>
          <a:off x="729450" y="219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{EAD0831B-79F1-417B-AC4F-1AECCB16B545}</a:tableStyleId>
              </a:tblPr>
              <a:tblGrid>
                <a:gridCol w="3844350"/>
                <a:gridCol w="3844350"/>
              </a:tblGrid>
              <a:tr h="112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u="sng">
                          <a:latin typeface="Lato"/>
                          <a:ea typeface="Lato"/>
                          <a:cs typeface="Lato"/>
                          <a:sym typeface="Lato"/>
                        </a:rPr>
                        <a:t>Average </a:t>
                      </a:r>
                      <a:r>
                        <a:rPr lang="en-GB" u="sng">
                          <a:latin typeface="Lato"/>
                          <a:ea typeface="Lato"/>
                          <a:cs typeface="Lato"/>
                          <a:sym typeface="Lato"/>
                        </a:rPr>
                        <a:t>Daily Volume:</a:t>
                      </a:r>
                      <a:endParaRPr u="sng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u="sng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ato"/>
                          <a:ea typeface="Lato"/>
                          <a:cs typeface="Lato"/>
                          <a:sym typeface="Lato"/>
                        </a:rPr>
                        <a:t>The average number of passengers entering or exiting the station every day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u="sng">
                          <a:latin typeface="Lato"/>
                          <a:ea typeface="Lato"/>
                          <a:cs typeface="Lato"/>
                          <a:sym typeface="Lato"/>
                        </a:rPr>
                        <a:t>Seasonal Trends:</a:t>
                      </a:r>
                      <a:endParaRPr u="sng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u="sng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ato"/>
                          <a:ea typeface="Lato"/>
                          <a:cs typeface="Lato"/>
                          <a:sym typeface="Lato"/>
                        </a:rPr>
                        <a:t>Some stations see a decrease in </a:t>
                      </a:r>
                      <a:r>
                        <a:rPr lang="en-GB">
                          <a:latin typeface="Lato"/>
                          <a:ea typeface="Lato"/>
                          <a:cs typeface="Lato"/>
                          <a:sym typeface="Lato"/>
                        </a:rPr>
                        <a:t>volume during the Christmas or Easter period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112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u="sng">
                          <a:latin typeface="Lato"/>
                          <a:ea typeface="Lato"/>
                          <a:cs typeface="Lato"/>
                          <a:sym typeface="Lato"/>
                        </a:rPr>
                        <a:t>Weekly Trends:</a:t>
                      </a:r>
                      <a:endParaRPr u="sng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ato"/>
                          <a:ea typeface="Lato"/>
                          <a:cs typeface="Lato"/>
                          <a:sym typeface="Lato"/>
                        </a:rPr>
                        <a:t>There are stations that see decreases in volume on weekends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u="sng">
                          <a:latin typeface="Lato"/>
                          <a:ea typeface="Lato"/>
                          <a:cs typeface="Lato"/>
                          <a:sym typeface="Lato"/>
                        </a:rPr>
                        <a:t>Overall Volume:</a:t>
                      </a:r>
                      <a:endParaRPr u="sng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u="sng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ato"/>
                          <a:ea typeface="Lato"/>
                          <a:cs typeface="Lato"/>
                          <a:sym typeface="Lato"/>
                        </a:rPr>
                        <a:t>The number of passengers entering or leaving the station over the course of the entire timeframe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Stations Differ</a:t>
            </a:r>
            <a:endParaRPr/>
          </a:p>
        </p:txBody>
      </p:sp>
      <p:sp>
        <p:nvSpPr>
          <p:cNvPr id="113" name="Google Shape;113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u="sng"/>
              <a:t>Feature Engineering:</a:t>
            </a:r>
            <a:endParaRPr sz="1500" u="sng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/>
              <a:t> </a:t>
            </a:r>
            <a:r>
              <a:rPr lang="en-GB" sz="1500"/>
              <a:t>We used a total of 22 different usage features, </a:t>
            </a:r>
            <a:r>
              <a:rPr lang="en-GB" sz="1500"/>
              <a:t>including those on the previous slide, to create a behavioural profile for each of the 437 different stations.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 u="sng"/>
              <a:t>Clustering:</a:t>
            </a:r>
            <a:endParaRPr sz="1500" u="sng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500"/>
              <a:t>We then used a machine learning algorithm called K-Means to cluster together stations that behave similarly.</a:t>
            </a:r>
            <a:endParaRPr sz="1500"/>
          </a:p>
        </p:txBody>
      </p:sp>
      <p:sp>
        <p:nvSpPr>
          <p:cNvPr id="114" name="Google Shape;114;p17"/>
          <p:cNvSpPr txBox="1"/>
          <p:nvPr/>
        </p:nvSpPr>
        <p:spPr>
          <a:xfrm>
            <a:off x="96300" y="86900"/>
            <a:ext cx="87957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Objective : Understanding Station Behaviour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/>
          <p:nvPr/>
        </p:nvSpPr>
        <p:spPr>
          <a:xfrm>
            <a:off x="0" y="0"/>
            <a:ext cx="9144000" cy="504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Objective : </a:t>
            </a: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Understanding Station Behaviour &amp; Identifying Natural Station Groups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20" name="Google Shape;12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9500" y="580875"/>
            <a:ext cx="6745001" cy="456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/>
          <p:nvPr/>
        </p:nvSpPr>
        <p:spPr>
          <a:xfrm>
            <a:off x="0" y="0"/>
            <a:ext cx="9144000" cy="504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Objective : Understanding Station Behaviour &amp; Identifying Natural Station Groups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26" name="Google Shape;12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5200" y="607875"/>
            <a:ext cx="6966326" cy="440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/>
          <p:nvPr/>
        </p:nvSpPr>
        <p:spPr>
          <a:xfrm>
            <a:off x="0" y="0"/>
            <a:ext cx="9144000" cy="504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Objective : Understanding Station Behaviour &amp; Identifying Natural Station Groups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2" name="Google Shape;13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7450" y="621475"/>
            <a:ext cx="6877986" cy="4334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/>
          <p:nvPr/>
        </p:nvSpPr>
        <p:spPr>
          <a:xfrm>
            <a:off x="0" y="0"/>
            <a:ext cx="9144000" cy="504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Objective : Forecast 2026 Demand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8" name="Google Shape;13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9500" y="580875"/>
            <a:ext cx="6745001" cy="456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/>
          <p:nvPr/>
        </p:nvSpPr>
        <p:spPr>
          <a:xfrm>
            <a:off x="0" y="0"/>
            <a:ext cx="9144000" cy="504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Objective : </a:t>
            </a: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Forecast 2026 Demand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44" name="Google Shape;14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4875" y="680449"/>
            <a:ext cx="6877974" cy="4373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/>
          <p:nvPr/>
        </p:nvSpPr>
        <p:spPr>
          <a:xfrm>
            <a:off x="0" y="0"/>
            <a:ext cx="9144000" cy="504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Objective : </a:t>
            </a: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Forecast 2026 Demand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50" name="Google Shape;15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7450" y="621475"/>
            <a:ext cx="6877986" cy="4334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Forecasting </a:t>
            </a:r>
            <a:endParaRPr/>
          </a:p>
        </p:txBody>
      </p:sp>
      <p:sp>
        <p:nvSpPr>
          <p:cNvPr id="156" name="Google Shape;156;p2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 </a:t>
            </a:r>
            <a:r>
              <a:rPr lang="en-GB"/>
              <a:t>forecast the demand for 2026 across the 437 stations in a way that is easily digestible we have created a forecast of each of the three representative stations.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We have used a machine learning model for time series forecasting that utilises a decomposable model with trend, seasonality and holiday components.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These forecasts will show dips in the Easter, August and Christmas periods</a:t>
            </a:r>
            <a:endParaRPr/>
          </a:p>
        </p:txBody>
      </p:sp>
      <p:sp>
        <p:nvSpPr>
          <p:cNvPr id="157" name="Google Shape;157;p24"/>
          <p:cNvSpPr txBox="1"/>
          <p:nvPr/>
        </p:nvSpPr>
        <p:spPr>
          <a:xfrm>
            <a:off x="0" y="64350"/>
            <a:ext cx="50973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Objective : Forecast 2026 Demand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/>
          <p:nvPr/>
        </p:nvSpPr>
        <p:spPr>
          <a:xfrm>
            <a:off x="0" y="0"/>
            <a:ext cx="9144000" cy="504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Objective : Forecast 2026 Demand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63" name="Google Shape;16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56700"/>
            <a:ext cx="8839198" cy="36427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6"/>
          <p:cNvSpPr/>
          <p:nvPr/>
        </p:nvSpPr>
        <p:spPr>
          <a:xfrm>
            <a:off x="0" y="0"/>
            <a:ext cx="9144000" cy="504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Objective : Forecast 2026 Demand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69" name="Google Shape;16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56700"/>
            <a:ext cx="8839198" cy="36427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"/>
          <p:cNvSpPr/>
          <p:nvPr/>
        </p:nvSpPr>
        <p:spPr>
          <a:xfrm>
            <a:off x="0" y="0"/>
            <a:ext cx="9144000" cy="504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Objective : Forecast 2026 Demand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75" name="Google Shape;17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56700"/>
            <a:ext cx="8839198" cy="36427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Anomalies</a:t>
            </a:r>
            <a:endParaRPr/>
          </a:p>
        </p:txBody>
      </p:sp>
      <p:sp>
        <p:nvSpPr>
          <p:cNvPr id="181" name="Google Shape;181;p2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/>
              <a:t>Residuals:</a:t>
            </a:r>
            <a:endParaRPr u="sng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For each of the stations we have found what a typical week looks like, and the general trends. We then remove all of the regular and weekly patterns (Mon-Fri peaks, weekend dips) so that we are only left with the irregular parts. This irregular part is what we call a residual.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u="sng"/>
              <a:t>Percentile Approach:</a:t>
            </a:r>
            <a:endParaRPr u="sng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We then looked at these residuals and marked the top 1% busiest, and bottom 1% </a:t>
            </a:r>
            <a:r>
              <a:rPr lang="en-GB"/>
              <a:t>quietest</a:t>
            </a:r>
            <a:r>
              <a:rPr lang="en-GB"/>
              <a:t> residual days. This will mark the most extreme days compared to what each </a:t>
            </a:r>
            <a:r>
              <a:rPr lang="en-GB"/>
              <a:t>station</a:t>
            </a:r>
            <a:r>
              <a:rPr lang="en-GB"/>
              <a:t> normally sees.</a:t>
            </a:r>
            <a:endParaRPr/>
          </a:p>
        </p:txBody>
      </p:sp>
      <p:sp>
        <p:nvSpPr>
          <p:cNvPr id="182" name="Google Shape;182;p28"/>
          <p:cNvSpPr txBox="1"/>
          <p:nvPr/>
        </p:nvSpPr>
        <p:spPr>
          <a:xfrm>
            <a:off x="0" y="64350"/>
            <a:ext cx="50973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Objective : Detect and Suggest Reasons For Unusual Usage Patterns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9"/>
          <p:cNvSpPr/>
          <p:nvPr/>
        </p:nvSpPr>
        <p:spPr>
          <a:xfrm>
            <a:off x="0" y="0"/>
            <a:ext cx="9144000" cy="504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Objective : </a:t>
            </a: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Detect and Suggest Reasons For Unusual Usage Patterns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88" name="Google Shape;18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56700"/>
            <a:ext cx="8734917" cy="433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0"/>
          <p:cNvSpPr/>
          <p:nvPr/>
        </p:nvSpPr>
        <p:spPr>
          <a:xfrm>
            <a:off x="0" y="0"/>
            <a:ext cx="9144000" cy="504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Objective : Detect and Suggest Reasons For Unusual Usage Patterns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94" name="Google Shape;19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8400" y="581550"/>
            <a:ext cx="5641411" cy="4501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/>
          <p:nvPr/>
        </p:nvSpPr>
        <p:spPr>
          <a:xfrm>
            <a:off x="0" y="0"/>
            <a:ext cx="9144000" cy="504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Objective : Detect and Suggest Reasons For Unusual Usage Patterns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00" name="Google Shape;20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2450" y="581525"/>
            <a:ext cx="5641399" cy="4506282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1"/>
          <p:cNvSpPr/>
          <p:nvPr/>
        </p:nvSpPr>
        <p:spPr>
          <a:xfrm>
            <a:off x="105550" y="906150"/>
            <a:ext cx="1480200" cy="1454400"/>
          </a:xfrm>
          <a:prstGeom prst="brace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2" name="Google Shape;202;p31"/>
          <p:cNvSpPr txBox="1"/>
          <p:nvPr/>
        </p:nvSpPr>
        <p:spPr>
          <a:xfrm>
            <a:off x="311500" y="906150"/>
            <a:ext cx="1068300" cy="13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Train strikes during the first 2 weeks of september this year caused large disruptions, primarily affecting London Underground</a:t>
            </a:r>
            <a:endParaRPr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3" name="Google Shape;203;p31"/>
          <p:cNvSpPr/>
          <p:nvPr/>
        </p:nvSpPr>
        <p:spPr>
          <a:xfrm>
            <a:off x="1778825" y="3350425"/>
            <a:ext cx="512100" cy="504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4" name="Google Shape;204;p31"/>
          <p:cNvSpPr/>
          <p:nvPr/>
        </p:nvSpPr>
        <p:spPr>
          <a:xfrm>
            <a:off x="1778825" y="4236625"/>
            <a:ext cx="512100" cy="3759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5" name="Google Shape;205;p31"/>
          <p:cNvSpPr/>
          <p:nvPr/>
        </p:nvSpPr>
        <p:spPr>
          <a:xfrm>
            <a:off x="1778825" y="2592625"/>
            <a:ext cx="512100" cy="555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